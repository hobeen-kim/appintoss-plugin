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1">
                <a:solidFill>
                  <a:srgbClr val="8CC0FF"/>
                </a:solidFill>
                <a:latin typeface="Apple SD Gothic Neo"/>
              </a:rPr>
              <a:t>APPS IN TOSS WEBINAR · 2026.08.21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241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5200" b="1">
                <a:solidFill>
                  <a:srgbClr val="FFFFFF"/>
                </a:solidFill>
                <a:latin typeface="Apple SD Gothic Neo"/>
              </a:rPr>
              <a:t>혼자 만든 미니앱으로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5200" b="1">
                <a:solidFill>
                  <a:srgbClr val="FFFFFF"/>
                </a:solidFill>
                <a:latin typeface="Apple SD Gothic Neo"/>
              </a:rPr>
              <a:t>하루 150만원 매출까지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206240"/>
            <a:ext cx="1005840" cy="635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262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B0B8C1"/>
                </a:solidFill>
                <a:latin typeface="Apple SD Gothic Neo"/>
              </a:rPr>
              <a:t>박효준 · 토스 iOS 개발자   |   진행 류상 · 앱인토스 마케팅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B0B8C1"/>
                </a:solidFill>
                <a:latin typeface="Apple SD Gothic Neo"/>
              </a:rPr>
              <a:t>미니앱 8개 운영 · 대표작 「인스타 언팔한 사람 찾기」   |   러닝타임 1:14:40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SPEAKER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발표자와 이 세션의 전제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5074920" cy="3291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600" b="1">
                <a:solidFill>
                  <a:srgbClr val="191F28"/>
                </a:solidFill>
                <a:latin typeface="Apple SD Gothic Neo"/>
              </a:rPr>
              <a:t>박효준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4480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토스 iOS 개발자 (본업)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토스 앱 홈 화면 · 은행 연결 화면 담당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주말과 퇴근 후 시간으로 미니앱 제작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현재 8개 운영, 곧 9번째 출시 예정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마케터가 아닌, 순수 개발자 출신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40280"/>
            <a:ext cx="5074920" cy="329184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600" b="1">
                <a:solidFill>
                  <a:srgbClr val="3182F6"/>
                </a:solidFill>
                <a:latin typeface="Apple SD Gothic Neo"/>
              </a:rPr>
              <a:t>이 세션이 다루는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80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"어떻게 만드는가"가 아니라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  "만든 다음 어떻게 운영·수익화했는가"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실제 콘솔 대시보드·매출 화면 공개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100% 라이브, 실경험 기반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제작법은 6월 웨비나(3시간)에서 다룸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숫자로 보는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6B7684"/>
                </a:solidFill>
                <a:latin typeface="Apple SD Gothic Neo"/>
              </a:rPr>
              <a:t>「인스타 언팔한 사람 찾기」 · 2026년 4월 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2436876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243687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150만원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19856"/>
            <a:ext cx="24368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하루 최대 매출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03904"/>
            <a:ext cx="24368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누적된 유입이 터진 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5868" y="2377440"/>
            <a:ext cx="2436876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5868" y="2578608"/>
            <a:ext cx="243687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147만명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3419856"/>
            <a:ext cx="24368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누적 유저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3803904"/>
            <a:ext cx="24368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출시 약 1개월 시점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377440"/>
            <a:ext cx="2436876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2578608"/>
            <a:ext cx="243687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7,000개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419856"/>
            <a:ext cx="24368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리뷰 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803904"/>
            <a:ext cx="24368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평점 4.5+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1684" y="2377440"/>
            <a:ext cx="2436876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1684" y="2578608"/>
            <a:ext cx="243687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10시간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1684" y="3419856"/>
            <a:ext cx="24368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순수 제작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1684" y="3803904"/>
            <a:ext cx="24368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달력 기준 3일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343400"/>
            <a:ext cx="2436876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44568"/>
            <a:ext cx="243687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23%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85816"/>
            <a:ext cx="24368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결과화면 → 결제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69864"/>
            <a:ext cx="24368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수익 설계의 출발점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15868" y="4343400"/>
            <a:ext cx="2436876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5868" y="4544568"/>
            <a:ext cx="243687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5868" y="5385816"/>
            <a:ext cx="24368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기능성 푸시 복귀율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5868" y="5769864"/>
            <a:ext cx="24368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3만 발송 → 1만+ 복귀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4343400"/>
            <a:ext cx="2436876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8776" y="4544568"/>
            <a:ext cx="243687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60%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6" y="5385816"/>
            <a:ext cx="24368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주간 알림 CTR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5769864"/>
            <a:ext cx="24368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5만 발송 → 3만 클릭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01684" y="4343400"/>
            <a:ext cx="2436876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1684" y="4544568"/>
            <a:ext cx="243687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200회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1684" y="5385816"/>
            <a:ext cx="24368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빌드·수정 횟수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01684" y="5769864"/>
            <a:ext cx="24368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출시 후에도 계속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이 발표의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6B7684"/>
                </a:solidFill>
                <a:latin typeface="Apple SD Gothic Neo"/>
              </a:rPr>
              <a:t>기획에서 시작해 운영 자동화로 끝난다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965960" cy="21031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3182F6"/>
                </a:solidFill>
                <a:latin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기획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빈칸을 찾고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제약을 무기로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5204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651760"/>
            <a:ext cx="196596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8803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3182F6"/>
                </a:solidFill>
                <a:latin typeface="Apple SD Gothic Ne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29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개발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88620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AI에 전면 위임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코드 0줄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5204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651760"/>
            <a:ext cx="1965960" cy="21031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8803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3182F6"/>
                </a:solidFill>
                <a:latin typeface="Apple SD Gothic Ne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429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88620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플랫폼 무료 채널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+ 외부 바이럴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5204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651760"/>
            <a:ext cx="196596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8803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3182F6"/>
                </a:solidFill>
                <a:latin typeface="Apple SD Gothic Ne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429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수익화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88620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광고 · 결제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실험으로 결정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5204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2651760"/>
            <a:ext cx="1965960" cy="21031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8803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3182F6"/>
                </a:solidFill>
                <a:latin typeface="Apple SD Gothic Ne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429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운영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88620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로그 → 지표 →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페인포인트 개선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앱 출시까지(1~2단계)는 AI가 거의 다 해준다. 진짜 승부는 3~5단계 — 사람이 계속 반복해야 하는 구간이다.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3182F6"/>
                </a:solidFill>
                <a:latin typeface="Apple SD Gothic Neo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pple SD Gothic Neo"/>
              </a:rPr>
              <a:t>기획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0">
                <a:solidFill>
                  <a:srgbClr val="B0B8C1"/>
                </a:solidFill>
                <a:latin typeface="Apple SD Gothic Neo"/>
              </a:rPr>
              <a:t>빈칸을 찾고, 제약을 무기로 바꾼다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1-1 ·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유저로 먼저 만났고, 목표는 DAU 10명이었다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31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토스 안의 게임을 하다가 앱인토스를 알게 됐다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6426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"이런 게 앱인토스구나, 미니앱이구나"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36392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0449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매력 포인트 — 토스라는 큰 생태계 안에 내 앱을 넣을 수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3558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실제로 해보니 어렵지도 않고, 누구나 출시할 수 있는 구조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49624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75818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첫 목표는 거창하지 않게 DAU 10명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069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"하루에 10명만 들어오는 앱을 만들자"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43400"/>
            <a:ext cx="10515600" cy="160020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720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C06C00"/>
                </a:solidFill>
                <a:latin typeface="Apple SD Gothic Neo"/>
              </a:rPr>
              <a:t>왜 DAU 10명이 결코 낮은 목표가 아닌가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8348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앱스토어·플레이스토어는 하루 1명 유입도 극히 어렵다. 스토어가 내 앱을 홍보해주지 않기 때문이다.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외부 바이럴을 직접 하거나, 지인에게 부탁하거나, 유료 마케팅을 해야만 유입이 생긴다. 앱인토스는 이보다 훨씬 용이하다.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1-2 · 아이템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8~10개를 만들며 얻은 결론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31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만든 앱이 전부 잘 되지는 않았다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6426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"처음부터 완벽하게" 접근했더니 오히려 잘 안 됐다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36392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0449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일상의 불편에서 문제를 정의하고, 가벼운 앱부터 만든다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3558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화면이 한두 개여도 괜찮다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49624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75818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요즘 막히는 지점은 개발이 아니라 기획이다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069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개발은 쉬워졌기 때문에 "뭘 만들지"에서 멈춘다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562856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44714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거창한 아이디어보다 내가 쓰고 싶은 앱으로 검증부터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478231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아이디어 검증이 먼저, 확장은 그 다음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1-3 ·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오리지널 아이디어가 아니어도 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507492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4480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「인스타 언팔한 사람 찾기」는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시중에 이미 알려져 있던 기능이었다.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77440"/>
            <a:ext cx="5074920" cy="21031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480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900" b="1">
                <a:solidFill>
                  <a:srgbClr val="3182F6"/>
                </a:solidFill>
                <a:latin typeface="Apple SD Gothic Neo"/>
              </a:rPr>
              <a:t>그런데 앱인토스 생태계 안에는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900" b="1">
                <a:solidFill>
                  <a:srgbClr val="3182F6"/>
                </a:solidFill>
                <a:latin typeface="Apple SD Gothic Neo"/>
              </a:rPr>
              <a:t>딱 비어 있었다.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709160"/>
            <a:ext cx="76200" cy="13716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709160"/>
            <a:ext cx="9692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800" b="1">
                <a:solidFill>
                  <a:srgbClr val="191F28"/>
                </a:solidFill>
                <a:latin typeface="Apple SD Gothic Neo"/>
              </a:rPr>
              <a:t>"괜찮은 앱들을 보면서, 앱인토스에도 이런 게 있으면 좋겠네 하고 넣어봤다."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57784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→ 새로운 발명이 아니라, 생태계의 빈칸(공백 시장)을 찾는 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1-4 · 출시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완벽하게 만들 것인가, 먼저 내놓을 것인가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6B7684"/>
                </a:solidFill>
                <a:latin typeface="Apple SD Gothic Neo"/>
              </a:rPr>
              <a:t>개발하다 보면 "이것도 넣고 싶고 저것도 넣고 싶다"는 생각이 항상 든다. 그래도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600" b="1">
                <a:solidFill>
                  <a:srgbClr val="3182F6"/>
                </a:solidFill>
                <a:latin typeface="Apple SD Gothic Neo"/>
              </a:rPr>
              <a:t>최소 기능만 충족되면 먼저 시장에 내놓는다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빠르게 개발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43891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411480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4114800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빠르게 마케팅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43891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411480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4114800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유저 반응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3891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411480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6" y="4114800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반응이 좋으면 본격 투자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191F28"/>
                </a:solidFill>
                <a:latin typeface="Apple SD Gothic Neo"/>
              </a:rPr>
              <a:t>"이 앱을 쓸지 말지는 결국 유저가 정한다."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1-5 ·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제약을 기획의 무기로 — 서버 없는 앱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F04452"/>
                </a:solidFill>
                <a:latin typeface="Apple SD Gothic Neo"/>
              </a:rPr>
              <a:t>인지한 제약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4937760" cy="237744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1   iOS 개발자지만 서버 경험이 없다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/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2   개인정보 이슈가 민감한 시기였다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/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3   구현이 복잡하면 사람들이 안 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40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15C39A"/>
                </a:solidFill>
                <a:latin typeface="Apple SD Gothic Neo"/>
              </a:rPr>
              <a:t>내린 결론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06040"/>
            <a:ext cx="4937760" cy="2377440"/>
          </a:xfrm>
          <a:prstGeom prst="roundRect">
            <a:avLst>
              <a:gd name="adj" fmla="val 6000"/>
            </a:avLst>
          </a:prstGeom>
          <a:solidFill>
            <a:srgbClr val="EB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"안 되는 건 안 하겠다.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 내가 할 수 있는 걸 하자."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/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→ 서버 없는 앱으로 설계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→ 자체 로그인도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제약이 기능을 깎은 게 아니라, 더 뾰족한 기획을 만드는 기회가 됐다.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1-5 ·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서버 없이 동작하는 방식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6B7684"/>
                </a:solidFill>
                <a:latin typeface="Apple SD Gothic Neo"/>
              </a:rPr>
              <a:t>이 구조가 뒤에 나올 최대 이탈 지점을 만든다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627632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토스 앱에서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미니앱 진입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651760"/>
            <a:ext cx="1627632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337560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유저가 직접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인스타그램 앱으로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651760"/>
            <a:ext cx="1627632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337560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인스타그램에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데이터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51760"/>
            <a:ext cx="1627632" cy="173736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337560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10~15분 뒤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이메일로 파일 수신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651760"/>
            <a:ext cx="1627632" cy="173736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337560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파일을 미니앱에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업로드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651760"/>
            <a:ext cx="1627632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337560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비교·분석 후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언팔 목록 표시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57200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80060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번거로운 퍼널이다. 앱을 나갔다가 10~15분 뒤 돌아와야 한다.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→ 이 지점이 실제로 가장 큰 이탈 구간이 되며, 5부에서 기능성 푸시로 해결한다.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1-6 · 출시 이후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만드는 데 10시간, 고치는 데는 그보다 훨씬 오래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3334512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33345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10시간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2841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순수 제작 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1246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기획 + 개발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3504" y="2377440"/>
            <a:ext cx="3334512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3504" y="2578608"/>
            <a:ext cx="33345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3504" y="332841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달력 기준 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3504" y="371246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"하루도 안 걸린 셈"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4048" y="2377440"/>
            <a:ext cx="3334512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4048" y="2578608"/>
            <a:ext cx="3334512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약 200회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4048" y="332841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빌드 · 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4048" y="371246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20행 × 10페이지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97680"/>
            <a:ext cx="10515600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526280"/>
            <a:ext cx="9784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문구 하나까지 고치며 직접 휴대폰으로 플로우를 타봤다. 매일 확인한 질문은 두 가지였다.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/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"유저가 이 문구를 봤을 때 직관적인가?"     "다음 화면으로 갈 수 있게 잘 안내하고 있나?"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1-6 ·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가장 강조된 한 문장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1051560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76200" cy="22860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969264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200" b="1">
                <a:solidFill>
                  <a:srgbClr val="191F28"/>
                </a:solidFill>
                <a:latin typeface="Apple SD Gothic Neo"/>
              </a:rPr>
              <a:t>"출시하고 나서 '어, 반응이 없네' 하고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200" b="1">
                <a:solidFill>
                  <a:srgbClr val="191F28"/>
                </a:solidFill>
                <a:latin typeface="Apple SD Gothic Neo"/>
              </a:rPr>
              <a:t>그만두는 경우가 제일 안타깝다."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개발까지는 쉽고 재밌다. 그러나 출시 후 반복해서 보며 고쳐 나가는 것이 훨씬 더 중요하다.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3182F6"/>
                </a:solidFill>
                <a:latin typeface="Apple SD Gothic Neo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pple SD Gothic Neo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0">
                <a:solidFill>
                  <a:srgbClr val="B0B8C1"/>
                </a:solidFill>
                <a:latin typeface="Apple SD Gothic Neo"/>
              </a:rPr>
              <a:t>코드는 한 줄도 직접 쓰지 않았다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2-1 ·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"A B C D 한 글자도 안 적었다"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68880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774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개발 전 과정을 한국어 지시로 AI에 위임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68833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직접 코드를 타이핑한 적이 없다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82112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0906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예전에는 앱 하나에 최소 4명, 많으면 10명이 필요했다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4015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지금은 1~2명이면 충분하다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95344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80390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일하는 방식이 바뀌었다 — "직접 짜는 법" → "AI에게 잘 시키는 법"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114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개인이 여러 앱을 동시 운영하는 것도 가능해졌다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10515600" cy="11887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3182F6"/>
                </a:solidFill>
                <a:latin typeface="Apple SD Gothic Neo"/>
              </a:rPr>
              <a:t>"그냥 순수하게 말만 해서 AI한테 다 위임시켜 일을 시켰다."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2-2 ·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제로 → 원, 7단계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1389888" cy="173736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앱인토스 MCP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세팅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22576" y="2560320"/>
            <a:ext cx="1389888" cy="173736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2576" y="2743200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2576" y="3200400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기획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(PRD)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2192" y="2560320"/>
            <a:ext cx="1389888" cy="173736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2743200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3200400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디자인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(아이콘·썸네일)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21808" y="2560320"/>
            <a:ext cx="1389888" cy="173736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2743200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3200400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개발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2560320"/>
            <a:ext cx="1389888" cy="173736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4" y="2743200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3200400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560320"/>
            <a:ext cx="1389888" cy="173736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743200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C06C00"/>
                </a:solidFill>
                <a:latin typeface="Apple SD Gothic Neo"/>
              </a:rPr>
              <a:t>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홍보·마케팅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0656" y="2560320"/>
            <a:ext cx="1389888" cy="173736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6" y="2743200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C06C00"/>
                </a:solidFill>
                <a:latin typeface="Apple SD Gothic Neo"/>
              </a:rPr>
              <a:t>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6" y="3200400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유지보수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26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1">
                <a:solidFill>
                  <a:srgbClr val="3182F6"/>
                </a:solidFill>
                <a:latin typeface="Apple SD Gothic Neo"/>
              </a:rPr>
              <a:t>■ ①~⑤  AI가 거의 다 해준다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26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1">
                <a:solidFill>
                  <a:srgbClr val="C06C00"/>
                </a:solidFill>
                <a:latin typeface="Apple SD Gothic Neo"/>
              </a:rPr>
              <a:t>■ ⑥~⑦  사람의 영역 · 계속 반복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9834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16636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AI가 못 하는 것 — 감성이 필요한 홍보·마케팅, 유저가 어떻게 쓰는지 관찰하고 피드백 받아 개선하는 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2-3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앱인토스 MCP — 지식을 통째로 AI에 넘긴다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31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앱인토스 개발자 센터에서 제공한다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6426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앱인토스에 대한 지식을 모두 가지고 있다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36392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0449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설치하면 AI에게 무엇이든 물어볼 수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3558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앱인토스가 뭔지 · 출시는 어떻게 하는지 · 빌드는 어떻게 하는지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49624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75818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결과적으로 누구나 출시에 필요한 개념을 얻게 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069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플랫폼 학습 비용이 사라진다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8056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70916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단, MCP는 토큰을 많이 먹는다.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반복 작업이 많아지면 비용이 부담된다 → 해결책은 다음 슬라이드의 지식 폴더 구조.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2-4 ·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Claude + Codex, 월 5~6만 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31720"/>
          <a:ext cx="1051559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3"/>
                <a:gridCol w="1472183"/>
                <a:gridCol w="757123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도구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용도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선택 이유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Claude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디자인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내부에 Claude 디자인이 있어 1차 시안을 받고 그걸로 개발한다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Codex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개발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① 생각을 길게 적어 대기 메시지로 쌓아둬도 관리가 쉽다</a:t>
                      </a:r>
                    </a:p>
                    <a:p>
                      <a:r>
                        <a:t>② 엣지 케이스·디테일을 먼저 제안하는 "참견형"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3977639"/>
            <a:ext cx="10515600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9784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요금제는 각 3만 원 수준, 합계 월 5~6만 원. 비싼 요금제를 쓰지 않는다.</a:t>
            </a:r>
          </a:p>
          <a:p>
            <a:pPr algn="l">
              <a:lnSpc>
                <a:spcPct val="16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정답은 없다 — 반대로 Codex/GPT로 디자인, Claude로 개발하는 사람도 있다.</a:t>
            </a:r>
          </a:p>
          <a:p>
            <a:pPr algn="l">
              <a:lnSpc>
                <a:spcPct val="16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둘 다 쓸 필요도 없고 하나만 써도 된다. 직접 써보고 잘 맞는 쪽을 고르면 된다.</a:t>
            </a:r>
          </a:p>
          <a:p>
            <a:pPr algn="l">
              <a:lnSpc>
                <a:spcPct val="16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"참견형"이 불편하다면(시킨 것만 하길 원한다면) 굳이 Codex를 선택하지 않아도 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2-5 · 디자인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TDS를 AI에 이식한다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6B7684"/>
                </a:solidFill>
                <a:latin typeface="Apple SD Gothic Neo"/>
              </a:rPr>
              <a:t>발표자가 가장 어려워한 영역이 디자인이었다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627632" cy="16459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개발자 센터에서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"디자인 도구"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651760"/>
            <a:ext cx="1627632" cy="16459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91840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TDS zip 다운로드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→ 압축 해제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651760"/>
            <a:ext cx="1627632" cy="16459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91840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.fig = 피그마 파일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(버튼·라벨·세그먼트)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51760"/>
            <a:ext cx="1627632" cy="16459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291840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Claude 디자인에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통째로 등록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651760"/>
            <a:ext cx="1627632" cy="16459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20~30분 자체 학습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651760"/>
            <a:ext cx="1627632" cy="164592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834640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291840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이후 모든 시안이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TDS 기반으로 산출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52628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754880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버튼 곡률·두께·배경색 같은 세부 규칙까지 TDS 기반으로 반영된다.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토스 개발자와 프로덕트 디자이너가 다듬은 시스템을 그대로 쓰는 셈 → "토스러운" 심플한 디자인이 자연스럽게 나온다.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2-6 · 지식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토큰을 월등하게 아끼는 폴더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앱인토스/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├─ platform-docs/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│     앱인토스 공통 지식 전부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│     (광고 · 결제 · 배포 · 도메인)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├─ 프로젝트A/  └ PRD.md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├─ 프로젝트B/  └ PRD.md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└─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왜 이렇게 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8892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앱을 여러 개 만들면 같은 앱인토스 문서를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  반복해서 참조하게 된다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MCP를 경유하는 것 자체가 토큰을 많이 쓴다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지식을 문서로 로컬화하고 AI가 그걸 보게 하면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  MCP를 거치지 않아도 된다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→ 토큰을 월등하게 절감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2-7 · PRD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PRD는 AI에게 주는 기획 정의서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6B7684"/>
                </a:solidFill>
                <a:latin typeface="Apple SD Gothic Neo"/>
              </a:rPr>
              <a:t>거창한 게 아니라 텍스트만 있는 문서다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6B7684"/>
                </a:solidFill>
                <a:latin typeface="Apple SD Gothic Neo"/>
              </a:rPr>
              <a:t>PRD가 없으면 AI는 이 앱이 무엇인지 모른다. PRD가 있으면 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2523744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3182F6"/>
                </a:solidFill>
                <a:latin typeface="Apple SD Gothic Neo"/>
              </a:rPr>
              <a:t>이 앱이 뭔지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25237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이 폴더에서 작업하는 앱은</a:t>
            </a:r>
          </a:p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"인스타 언팔 찾기"구나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7016" y="2788920"/>
            <a:ext cx="2523744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301752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3182F6"/>
                </a:solidFill>
                <a:latin typeface="Apple SD Gothic Neo"/>
              </a:rPr>
              <a:t>화면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3474720"/>
            <a:ext cx="25237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화면은 이렇게 되어 있구나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2523744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301752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3182F6"/>
                </a:solidFill>
                <a:latin typeface="Apple SD Gothic Neo"/>
              </a:rPr>
              <a:t>타깃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474720"/>
            <a:ext cx="25237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주 연령층은 이렇구나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2788920"/>
            <a:ext cx="2523744" cy="16459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301752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3182F6"/>
                </a:solidFill>
                <a:latin typeface="Apple SD Gothic Neo"/>
              </a:rPr>
              <a:t>할 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3474720"/>
            <a:ext cx="25237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앞으로 해야 할 일은</a:t>
            </a:r>
          </a:p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이렇게 있구나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00600"/>
            <a:ext cx="10515600" cy="11887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00600"/>
            <a:ext cx="76200" cy="118872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80060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b="1">
                <a:solidFill>
                  <a:srgbClr val="191F28"/>
                </a:solidFill>
                <a:latin typeface="Apple SD Gothic Neo"/>
              </a:rPr>
              <a:t>한마디로 "AI에게 시킬 문서의 지침"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2-7 · PRD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개발 경험이 없어도 PRD를 쓰는 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5486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400" b="1">
                <a:solidFill>
                  <a:srgbClr val="3182F6"/>
                </a:solidFill>
                <a:latin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048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"PRD 스킬"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404872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구글에 검색하면 기획자들이 만들어둔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템플릿이 나온다. 퀄리티 괜찮은 걸 받는다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73552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73552"/>
            <a:ext cx="5486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400" b="1">
                <a:solidFill>
                  <a:srgbClr val="3182F6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924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AI에 템플릿 전달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392424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"인스타 언팔 앱 만들고 싶은데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PRD 적어줘"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61104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61104"/>
            <a:ext cx="5486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400" b="1">
                <a:solidFill>
                  <a:srgbClr val="3182F6"/>
                </a:solidFill>
                <a:latin typeface="Apple SD Gothic Ne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3799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마이크 켜고 5분간 말한다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379976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맥북 마이크 → 음성이 텍스트로 변환.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두서없어도 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248656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48656"/>
            <a:ext cx="5486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400" b="1">
                <a:solidFill>
                  <a:srgbClr val="3182F6"/>
                </a:solidFill>
                <a:latin typeface="Apple SD Gothic Ne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3675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AI가 정리하고 되묻는다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367528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"이건 넣을까요? 다음 버전으로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미룰까요?" → 함께 완성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실제 말하는 방식 — "인스타 언팔로우 찾아주는 앱을 만들고 싶다. 유저들은 이런 걸 원할 것 같아…" 친구에게 얘기하듯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2-8 ·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"말로 개발하되" 반드시 챙길 3가지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3364992" cy="3611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3364992" cy="762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3182F6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2816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191F28"/>
                </a:solidFill>
                <a:latin typeface="Apple SD Gothic Neo"/>
              </a:rPr>
              <a:t>QA는 내가 직접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281635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개발은 AI가 했어도 검증은 내가 한다.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버튼을 누르면 다음 화면으로 잘 넘어가는지,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결제 성공 시 내용이 제대로 보이는지 직접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377440"/>
            <a:ext cx="3364992" cy="3611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2377440"/>
            <a:ext cx="3364992" cy="76200"/>
          </a:xfrm>
          <a:prstGeom prst="rect">
            <a:avLst/>
          </a:prstGeom>
          <a:solidFill>
            <a:srgbClr val="15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651760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15C39A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108960"/>
            <a:ext cx="2816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191F28"/>
                </a:solidFill>
                <a:latin typeface="Apple SD Gothic Neo"/>
              </a:rPr>
              <a:t>로그를 반드시 남기게 시킨다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931920"/>
            <a:ext cx="281635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"다른 거 다 괜찮으니 로그를 꼭 같이 작성하라"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어디서 이탈했는지 · 어떤 버튼을 자주 누르는지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→ 나중에 대시보드로 연결된다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377440"/>
            <a:ext cx="3364992" cy="3611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2377440"/>
            <a:ext cx="3364992" cy="76200"/>
          </a:xfrm>
          <a:prstGeom prst="rect">
            <a:avLst/>
          </a:prstGeom>
          <a:solidFill>
            <a:srgbClr val="C0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651760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C06C00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108960"/>
            <a:ext cx="2816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191F28"/>
                </a:solidFill>
                <a:latin typeface="Apple SD Gothic Neo"/>
              </a:rPr>
              <a:t>출시해도 아무 일도 안 일어난다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931920"/>
            <a:ext cx="281635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출시는 끝이 아니라 시작이다.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일이 일어나게 하려면 마케팅 · 수익화 · 운영이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필요하다 (3~5부)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3182F6"/>
                </a:solidFill>
                <a:latin typeface="Apple SD Gothic Neo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pple SD Gothic Neo"/>
              </a:rPr>
              <a:t>마케팅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0">
                <a:solidFill>
                  <a:srgbClr val="B0B8C1"/>
                </a:solidFill>
                <a:latin typeface="Apple SD Gothic Neo"/>
              </a:rPr>
              <a:t>노출을 만드는 3개의 계층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3-1 · 성장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실제 대시보드가 보여준 성장 곡선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2523744" cy="29260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2066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6B7684"/>
                </a:solidFill>
                <a:latin typeface="Apple SD Gothic Neo"/>
              </a:rPr>
              <a:t>4월 출시 ~ 15일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2066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반응 거의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31920"/>
            <a:ext cx="20665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DAU 10명 구간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유입은 전부 지인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지인 피드백으로 개선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016" y="2377440"/>
            <a:ext cx="2523744" cy="292608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6" y="2606040"/>
            <a:ext cx="2066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6B7684"/>
                </a:solidFill>
                <a:latin typeface="Apple SD Gothic Neo"/>
              </a:rPr>
              <a:t>스파이크 발생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6" y="3017520"/>
            <a:ext cx="2066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500명씩 유입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6" y="3931920"/>
            <a:ext cx="20665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스마트 발송(광고성)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무료 채널을 처음 사용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377440"/>
            <a:ext cx="2523744" cy="2926080"/>
          </a:xfrm>
          <a:prstGeom prst="roundRect">
            <a:avLst>
              <a:gd name="adj" fmla="val 6000"/>
            </a:avLst>
          </a:prstGeom>
          <a:solidFill>
            <a:srgbClr val="EB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606040"/>
            <a:ext cx="2066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6B7684"/>
                </a:solidFill>
                <a:latin typeface="Apple SD Gothic Neo"/>
              </a:rPr>
              <a:t>반복 발송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017520"/>
            <a:ext cx="2066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평균 유입 상승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931920"/>
            <a:ext cx="20665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스파이크를 반복하며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기준선 자체를 끌어올림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2377440"/>
            <a:ext cx="2523744" cy="292608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606040"/>
            <a:ext cx="2066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6B7684"/>
                </a:solidFill>
                <a:latin typeface="Apple SD Gothic Neo"/>
              </a:rPr>
              <a:t>출시 약 1개월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017520"/>
            <a:ext cx="2066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누적 147만 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3931920"/>
            <a:ext cx="20665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유입 → 정착 → 활성화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300" b="0">
                <a:solidFill>
                  <a:srgbClr val="191F28"/>
                </a:solidFill>
                <a:latin typeface="Apple SD Gothic Neo"/>
              </a:rPr>
              <a:t>선순환 진입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3-2 ·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노출을 만드는 3가지 계층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105155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505"/>
                <a:gridCol w="6309360"/>
                <a:gridCol w="172073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계층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① 앱인토스 자체 제공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스마트 발송 · 프로모션 · 공유 리워드 · 리뷰 요청 · OG 이미지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집중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② 외부 채널 마케팅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인스타 · 스레드 · 틱톡 · X · 에브리타임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집중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③ 앱인토스 팀의 노출 확대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잘 되는 앱을 플랫폼이 더 노출시켜 준다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기대 대상 아님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114800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343400"/>
            <a:ext cx="9784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선순환 구조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①②로 성과를 낸다 → 플랫폼이 "사용자 가치가 있는 앱"으로 판단한다 → ③ 노출이 확대된다 → 다시 성장한다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3-3 · 무료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앱인토스가 주는 채널 ①~③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105155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702"/>
                <a:gridCol w="7105135"/>
                <a:gridCol w="151576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채널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용도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스마트 발송</a:t>
                      </a:r>
                    </a:p>
                    <a:p>
                      <a:r>
                        <a:t>(광고성)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내 앱을 한 번도 안 써본 유저에게도 토스 푸시로 노출. 완전 무료.</a:t>
                      </a:r>
                    </a:p>
                    <a:p>
                      <a:r>
                        <a:t>실제 클릭 500회 사례 → "이것만 잘 써도 1,000명은 들어오게 할 수 있다"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신규 유입</a:t>
                      </a:r>
                    </a:p>
                    <a:p>
                      <a:r>
                        <a:t>재방문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스마트 발송</a:t>
                      </a:r>
                    </a:p>
                    <a:p>
                      <a:r>
                        <a:t>(기능성)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앱 내 특정 이벤트 시 알림 (예: "분석 결과 다 나왔어요").</a:t>
                      </a:r>
                    </a:p>
                    <a:p>
                      <a:r>
                        <a:t>유저 동의·행동 기반이라 광고성보다 클릭률이 훨씬 높다. 역시 무료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리텐션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프로모션</a:t>
                      </a:r>
                    </a:p>
                    <a:p>
                      <a:r>
                        <a:t>(토스 포인트)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포인트를 주면서 홍보 (예: "분석 결과 보면 100원 드릴게요").</a:t>
                      </a:r>
                    </a:p>
                    <a:p>
                      <a:r>
                        <a:t>비즈머니 충전 방식. 토스 두 번째 탭인 「혜택」 탭에 광고 노출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신규 유입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3-3 · 무료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앱인토스가 주는 채널 ④~⑥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1051559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172"/>
                <a:gridCol w="7010399"/>
                <a:gridCol w="1421027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채널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용도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공유 리워드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연락처를 연동한 유저가 지인에게 토스 푸시를 보낼 수 있다.</a:t>
                      </a:r>
                    </a:p>
                    <a:p>
                      <a:r>
                        <a:t>개발자는 공유 여부를 알 수 있어 보상 설계 가능</a:t>
                      </a:r>
                    </a:p>
                    <a:p>
                      <a:r>
                        <a:t>실제: "공유하면 광고 안 보게 해줄게요", "로또 번호 5개 추천"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바이럴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공유 링크</a:t>
                      </a:r>
                    </a:p>
                    <a:p>
                      <a:r>
                        <a:t>OG 이미지 커스텀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공유 링크의 메타데이터 이미지를 직접 바꿀 수 있다.</a:t>
                      </a:r>
                    </a:p>
                    <a:p>
                      <a:r>
                        <a:t>기본 이미지 대신 앱의 가치가 즉시 드러나는 이미지로 → 카톡 공유 전환율 상승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바이럴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리뷰 요청</a:t>
                      </a:r>
                    </a:p>
                    <a:p>
                      <a:r>
                        <a:t>requestReview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화면 이동 없이 현재 화면에서 바로 별점 입력.</a:t>
                      </a:r>
                    </a:p>
                    <a:p>
                      <a:r>
                        <a:t>유저가 가치를 느끼고 기분이 좋을 때 띄우면 5점이 많다</a:t>
                      </a:r>
                    </a:p>
                    <a:p>
                      <a:r>
                        <a:t>결과: 리뷰 7,000개 · 평점 4.5+ (초기엔 100개 미만·낮은 평점)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신뢰도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3-3 · 리뷰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리뷰는 왜 저절로 좋아지지 않는가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F04452"/>
                </a:solidFill>
                <a:latin typeface="Apple SD Gothic Neo"/>
              </a:rPr>
              <a:t>아무것도 하지 않으면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사람들은 좋을 때가 아니라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안 좋을 때 리뷰를 쓴다.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/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앱이 좋다고 리뷰를 남기는 경우는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거의 없다.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074920" cy="2880360"/>
          </a:xfrm>
          <a:prstGeom prst="roundRect">
            <a:avLst>
              <a:gd name="adj" fmla="val 6000"/>
            </a:avLst>
          </a:prstGeom>
          <a:solidFill>
            <a:srgbClr val="EB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5C39A"/>
                </a:solidFill>
                <a:latin typeface="Apple SD Gothic Neo"/>
              </a:rPr>
              <a:t>requestReview + 타이밍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4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유저가 앱의 가치를 충분히 느꼈을 때,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기분이 좋을 때 띄운다.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/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화면 이탈이 없으니 부담도 없다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→ 5점을 주는 경우가 많다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94960"/>
            <a:ext cx="3334512" cy="12801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96128"/>
            <a:ext cx="333451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600" b="1">
                <a:solidFill>
                  <a:srgbClr val="3182F6"/>
                </a:solidFill>
                <a:latin typeface="Apple SD Gothic Neo"/>
              </a:rPr>
              <a:t>7,000개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09360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최종 리뷰 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3504" y="5394960"/>
            <a:ext cx="3334512" cy="12801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3504" y="5596128"/>
            <a:ext cx="333451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600" b="1">
                <a:solidFill>
                  <a:srgbClr val="3182F6"/>
                </a:solidFill>
                <a:latin typeface="Apple SD Gothic Neo"/>
              </a:rPr>
              <a:t>4.5+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3504" y="6309360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평점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4048" y="5394960"/>
            <a:ext cx="3334512" cy="12801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4048" y="5596128"/>
            <a:ext cx="33345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600" b="1">
                <a:solidFill>
                  <a:srgbClr val="3182F6"/>
                </a:solidFill>
                <a:latin typeface="Apple SD Gothic Neo"/>
              </a:rPr>
              <a:t>100개 미만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4048" y="598017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초기 리뷰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4048" y="636422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평점도 낮았음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3-4 · 외부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토스 바깥에서 알리기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31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SNS 계정 하나 + 링크트리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6426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인스타 「미니앱 스튜디오」 운영. 앱이 8~10개라 링크트리로 전 앱 링크를 한곳에 모음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36392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0449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콘텐츠는 CapCut으로 간단하게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3558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"엄청 잘 만들어야지"가 아니라 자연스럽고 간단하게 — 실행을 늦추지 않는 게 우선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49624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75818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배포 채널 — 스레드 · 인스타 · 틱톡 · X · 에브리타임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069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10·20대가 모이는 커뮤니티를 우선 공략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34840"/>
            <a:ext cx="10515600" cy="178308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434840"/>
            <a:ext cx="978408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데이터로 채널을 고른다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콘솔 대시보드의 연령 분포를 보니 10·20대가 가장 두꺼웠다(인스타그램 사용자 구성 반영)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→ 에브리타임 등 10·20대가 모인 커뮤니티에 집중. "마케팅은 어렵게 생각할 게 아니라 상식적인 접근"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3-4 · 바이럴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X의 화력 — 내가 올린 게 아니었다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3334512" cy="18288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333451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360만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0273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X 게시물 조회수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8678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6월 30일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3504" y="2468880"/>
            <a:ext cx="3334512" cy="18288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3504" y="2670048"/>
            <a:ext cx="333451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약 2만명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3504" y="360273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다음날 검색 유입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3504" y="398678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7월 1일, 평소 대비 폭증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4048" y="2468880"/>
            <a:ext cx="3334512" cy="18288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4048" y="2670048"/>
            <a:ext cx="333451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3182F6"/>
                </a:solidFill>
                <a:latin typeface="Apple SD Gothic Neo"/>
              </a:rPr>
              <a:t>2~3회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4048" y="360273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경험한 바이럴 횟수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4048" y="398678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매번 유입 급증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72000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97840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"제가 올린 게 아니라, 다른 분들이 '토스에 이런 거 있더라'고 알아서 바이럴을 해주셨다."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/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→ 초반 화력을 높여 끌어내면 유저가 관심을 가져준다. 초기 확산에 집중할 가치가 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3-5 · 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대부분이 여기서 멈춘다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5074920" cy="2788920"/>
          </a:xfrm>
          <a:prstGeom prst="roundRect">
            <a:avLst>
              <a:gd name="adj" fmla="val 6000"/>
            </a:avLst>
          </a:prstGeom>
          <a:solidFill>
            <a:srgbClr val="EB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15C39A"/>
                </a:solidFill>
                <a:latin typeface="Apple SD Gothic Neo"/>
              </a:rPr>
              <a:t>많이들 쓰는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4480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800"/>
              </a:spcAft>
            </a:pPr>
            <a:r>
              <a:rPr sz="1700" b="0">
                <a:solidFill>
                  <a:srgbClr val="191F28"/>
                </a:solidFill>
                <a:latin typeface="Apple SD Gothic Neo"/>
              </a:rPr>
              <a:t>· 스마트 발송</a:t>
            </a:r>
          </a:p>
          <a:p>
            <a:pPr algn="l">
              <a:lnSpc>
                <a:spcPct val="180000"/>
              </a:lnSpc>
              <a:spcAft>
                <a:spcPts val="800"/>
              </a:spcAft>
            </a:pPr>
            <a:r>
              <a:rPr sz="1700" b="0">
                <a:solidFill>
                  <a:srgbClr val="191F28"/>
                </a:solidFill>
                <a:latin typeface="Apple SD Gothic Neo"/>
              </a:rPr>
              <a:t>· 프로모션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074920" cy="278892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F04452"/>
                </a:solidFill>
                <a:latin typeface="Apple SD Gothic Neo"/>
              </a:rPr>
              <a:t>모르거나 "엄두가 안 나서" 안 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4480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· 공유 리워드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· 공유 링크 이미지 커스텀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· 리뷰 요청(requestReview)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600" b="0">
                <a:solidFill>
                  <a:srgbClr val="191F28"/>
                </a:solidFill>
                <a:latin typeface="Apple SD Gothic Neo"/>
              </a:rPr>
              <a:t>· 외부 채널 마케팅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49240"/>
            <a:ext cx="10515600" cy="1325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5349240"/>
            <a:ext cx="76200" cy="132588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34924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900" b="1">
                <a:solidFill>
                  <a:srgbClr val="191F28"/>
                </a:solidFill>
                <a:latin typeface="Apple SD Gothic Neo"/>
              </a:rPr>
              <a:t>"한 번 해보는 것 자체가 어렵지, 해보면 쉽다."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617220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마케터가 아닌 iOS 개발자가 전부 다 한 것들이다.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3182F6"/>
                </a:solidFill>
                <a:latin typeface="Apple SD Gothic Neo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pple SD Gothic Neo"/>
              </a:rPr>
              <a:t>수익화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0">
                <a:solidFill>
                  <a:srgbClr val="B0B8C1"/>
                </a:solidFill>
                <a:latin typeface="Apple SD Gothic Neo"/>
              </a:rPr>
              <a:t>광고와 결제, 실험으로 결정한다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4-1 · 출발점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이탈을 잡는 것이 곧 매출이다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10515600" cy="109728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600" b="1">
                <a:solidFill>
                  <a:srgbClr val="3182F6"/>
                </a:solidFill>
                <a:latin typeface="Apple SD Gothic Neo"/>
              </a:rPr>
              <a:t>결과 화면을 본 유저의 23%가 결제까지 전환한다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이탈을 줄인다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4206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393192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3931920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결과 화면 도달 증가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4206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93192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3931920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23% 전환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420624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E5E8EB"/>
                </a:solidFill>
                <a:latin typeface="Apple SD Gothic Neo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393192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3931920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매출 증가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6B7684"/>
                </a:solidFill>
                <a:latin typeface="Apple SD Gothic Neo"/>
              </a:rPr>
              <a:t>퍼널 분석 결과 4단계 → 5단계 구간에서 이탈이 가장 컸다. (해결은 5부)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4-2 ·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광고인가 결제인가 — 정답은 없다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31720"/>
          <a:ext cx="10515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  <a:gridCol w="4480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모델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특징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적합한 경우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광고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진입 장벽이 낮아 모든 유저가 쉽게 수용한다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결제까지 가긴 어렵지만</a:t>
                      </a:r>
                    </a:p>
                    <a:p>
                      <a:r>
                        <a:t>반복 접속하는 성격의 앱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인앱결제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정말 필요로 하는 유저만 결제한다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결제할 만한 가치를 명확히 돌려주는 앱</a:t>
                      </a:r>
                    </a:p>
                    <a:p>
                      <a:r>
                        <a:t>BM이 확실할 때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3931920"/>
            <a:ext cx="10515600" cy="17373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9784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광고 안에서도 5초 광고 / 30초 광고로 갈리고, 결제 안에서도 단건 / 정기구독으로 갈린다.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앱 기획 특성에 맞춰 선택해야 한다.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/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· 인스타 언팔 앱은 둘 다 사용 — 결과를 보려면 990원 결제, 그 전에 광고 노출.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4-3 · eCPM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광고 유형별 실측치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6B7684"/>
                </a:solidFill>
                <a:latin typeface="Apple SD Gothic Neo"/>
              </a:rPr>
              <a:t>eCPM = 광고가 1,000명에게 노출됐을 때의 내 수익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4688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6126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광고 유형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eCPM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ple SD Gothic Neo"/>
                        </a:rPr>
                        <a:t>특성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문구형 배너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2,000원 초반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가장 가벼운 노출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전면형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(배너와 리워드 사이)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5초 후 스킵 가능 → 유튜브 5초 스킵처럼 UX 훼손이 적다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F28"/>
                          </a:solidFill>
                          <a:latin typeface="Apple SD Gothic Neo"/>
                        </a:rPr>
                        <a:t>리워드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약 3만 원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1F28"/>
                          </a:solidFill>
                          <a:latin typeface="Apple SD Gothic Neo"/>
                        </a:rPr>
                        <a:t>30초 이상 시청 → 끝까지 볼지, 보상 체계가 납득되는지가 관건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4434840"/>
            <a:ext cx="10515600" cy="118872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⚠  이 수치는 발표자 미니앱의 사례다. 기간 · 지면 · 앱 기능에 따라 매우 유동적이므로 참고치로만 볼 것.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4-3 ·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전면형에서 리워드로 — 실험이 만든 차이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2523744" cy="237744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전면형만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84448"/>
            <a:ext cx="2157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뒤에 결제가 있어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UX를 해치면 안 된다고 판단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016" y="2468880"/>
            <a:ext cx="2523744" cy="237744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2670048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3127248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실험 반복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3584448"/>
            <a:ext cx="2157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이것저것 시도하며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지표를 직접 측정 (로그+대시보드)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468880"/>
            <a:ext cx="2523744" cy="237744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670048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127248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"납득하는가"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584448"/>
            <a:ext cx="2157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유저가 이 보상에 납득하는지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관점에서 내 앱은 충족한다고 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2468880"/>
            <a:ext cx="2523744" cy="237744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2670048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3127248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91F28"/>
                </a:solidFill>
                <a:latin typeface="Apple SD Gothic Neo"/>
              </a:rPr>
              <a:t>리워드로 정착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3584448"/>
            <a:ext cx="2157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유저가 끝까지 본다는 걸 확인</a:t>
            </a:r>
          </a:p>
          <a:p>
            <a:pPr algn="ctr">
              <a:lnSpc>
                <a:spcPct val="140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→ eCPM이 훨씬 높은 광고로 전환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10515600" cy="11887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074920"/>
            <a:ext cx="76200" cy="118872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07492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b="1">
                <a:solidFill>
                  <a:srgbClr val="191F28"/>
                </a:solidFill>
                <a:latin typeface="Apple SD Gothic Neo"/>
              </a:rPr>
              <a:t>"시도를 안 했으면 놓칠 뻔한 차이."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4-4 · 결제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결제 전환을 높인 4가지 장치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1051559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923"/>
                <a:gridCol w="6471138"/>
                <a:gridCol w="179753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장치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효과</a:t>
                      </a:r>
                    </a:p>
                  </a:txBody>
                  <a:tcPr anchor="ctr">
                    <a:solidFill>
                      <a:srgbClr val="191F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선택지 다양화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단순 "990원"이 아니라 1개월 무료 체험 / 첫 결제 할인 / 재구독 할인 제공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심리적 허들 ↓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부분 공개(티저)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결과가 100명이면 전부 보여주지 않고 일부만 공개 → 궁금하면 결제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궁금증 유발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단건 + 구독 동시 제시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"한 번 더 들어올 것 같은데 그냥 구독해버릴까?" 멘탈 모델 유도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객단가 ↑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F28"/>
                          </a:solidFill>
                          <a:latin typeface="Apple SD Gothic Neo"/>
                        </a:rPr>
                        <a:t>가격 실험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2,000원 → 팀원 피드백 "2,000원은 절대 안 한다" → 990원으로 시장 검증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F28"/>
                          </a:solidFill>
                          <a:latin typeface="Apple SD Gothic Neo"/>
                        </a:rPr>
                        <a:t>세 자리 수의 안정감</a:t>
                      </a:r>
                    </a:p>
                  </a:txBody>
                  <a:tcPr anchor="ctr" marL="109728" marR="109728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6B7684"/>
                </a:solidFill>
                <a:latin typeface="Apple SD Gothic Neo"/>
              </a:rPr>
              <a:t>"논리적이지 않았던 것 같다. 그냥 해보면서 맞춰가는 과정이었다."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3182F6"/>
                </a:solidFill>
                <a:latin typeface="Apple SD Gothic Neo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pple SD Gothic Neo"/>
              </a:rPr>
              <a:t>운영 · 리텐션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0">
                <a:solidFill>
                  <a:srgbClr val="B0B8C1"/>
                </a:solidFill>
                <a:latin typeface="Apple SD Gothic Neo"/>
              </a:rPr>
              <a:t>로그가 만든 결과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5-1 · 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로그란 무엇이고 왜 필요한가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600" b="1">
                <a:solidFill>
                  <a:srgbClr val="3182F6"/>
                </a:solidFill>
                <a:latin typeface="Apple SD Gothic Neo"/>
              </a:rPr>
              <a:t>로그 = 유저가 내 앱에서 돌아다닌 흔적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657600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5661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버튼 클릭 · 화면 조회 · 5초 이상 체류 — 정의하기 나름이다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24528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1330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유저는 "나 이제 앱 종료해요"라고 말해주지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44398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그래서 이동·클릭·노출을 직접 정의해 로그로 심어야 지표가 생긴다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937760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846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이 로그가 그대로 퍼널 대시보드가 되고, 개선 판단의 근거가 된다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5-2 ·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로그로 밝혀낸 이탈 원인 (4 → 5 구간)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>
                <a:solidFill>
                  <a:srgbClr val="191F28"/>
                </a:solidFill>
                <a:latin typeface="Apple SD Gothic Neo"/>
              </a:rPr>
              <a:t>토스 앱 → 인스타그램 앱으로 이동해야 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272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127248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>
                <a:solidFill>
                  <a:srgbClr val="191F28"/>
                </a:solidFill>
                <a:latin typeface="Apple SD Gothic Neo"/>
              </a:rPr>
              <a:t>인스타그램에 데이터 요청 → 응답까지 10~15분 소요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770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877056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>
                <a:solidFill>
                  <a:srgbClr val="191F28"/>
                </a:solidFill>
                <a:latin typeface="Apple SD Gothic Neo"/>
              </a:rPr>
              <a:t>그동안 유저가 잊어버린다 ("아 맞다, 나 신청했지")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268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26864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>
                <a:solidFill>
                  <a:srgbClr val="191F28"/>
                </a:solidFill>
                <a:latin typeface="Apple SD Gothic Neo"/>
              </a:rPr>
              <a:t>메일을 받아도 알림이 없어서 또 잊는다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3766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376672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F04452"/>
                </a:solidFill>
                <a:latin typeface="Apple SD Gothic Neo"/>
              </a:rPr>
              <a:t>→ 앱으로 돌아오지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6B7684"/>
                </a:solidFill>
                <a:latin typeface="Apple SD Gothic Neo"/>
              </a:rPr>
              <a:t>로그가 없었다면 "왜 안 돌아오는지" 자체를 알 수 없었다.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5-3 · 해결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기능성 푸시 — 15분 뒤 리마인드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설계 — "15분 뒤에 알림을 보내 드릴게요, 받으시겠습니까?" 동의를 받고, 이메일 도착 시점에 맞춰 발송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3334512" cy="1600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84448"/>
            <a:ext cx="3334512" cy="1033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3200" b="1">
                <a:solidFill>
                  <a:srgbClr val="3182F6"/>
                </a:solidFill>
                <a:latin typeface="Apple SD Gothic Neo"/>
              </a:rPr>
              <a:t>3만명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푸시 발송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3504" y="3383280"/>
            <a:ext cx="3334512" cy="1600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3504" y="3584448"/>
            <a:ext cx="3334512" cy="1033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3200" b="1">
                <a:solidFill>
                  <a:srgbClr val="3182F6"/>
                </a:solidFill>
                <a:latin typeface="Apple SD Gothic Neo"/>
              </a:rPr>
              <a:t>1만명+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3504" y="4617720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복귀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4048" y="3383280"/>
            <a:ext cx="3334512" cy="1600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4048" y="3584448"/>
            <a:ext cx="3334512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3200" b="1">
                <a:solidFill>
                  <a:srgbClr val="3182F6"/>
                </a:solidFill>
                <a:latin typeface="Apple SD Gothic Neo"/>
              </a:rPr>
              <a:t>약 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4048" y="428853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복귀율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4048" y="467258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"푸시로 40%면 정말 높다"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7492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EB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25780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퍼널 개선 효과 — 해당 구간 전환율 +14%p, 최종 전환 9% → 14% (+5%p)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앞 구간은 아무것도 바꾸지 않아 전후 수치가 동일 → 푸시의 순효과임이 명확히 증명됐다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5-3 · 의미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데이터는 거짓말을 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0515600" cy="2148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76200" cy="214884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377440"/>
            <a:ext cx="9692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200" b="1">
                <a:solidFill>
                  <a:srgbClr val="191F28"/>
                </a:solidFill>
                <a:latin typeface="Apple SD Gothic Neo"/>
              </a:rPr>
              <a:t>대시보드로 페인 포인트를 찾아내고,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200" b="1">
                <a:solidFill>
                  <a:srgbClr val="191F28"/>
                </a:solidFill>
                <a:latin typeface="Apple SD Gothic Neo"/>
              </a:rPr>
              <a:t>그 지점에만 정확히 손을 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233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기존에 만들어 둔 로그·대시보드가 있었기에 "무엇을 고칠지"를 추측하지 않아도 됐다.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3334512" cy="1600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93208"/>
            <a:ext cx="3334512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800" b="1">
                <a:solidFill>
                  <a:srgbClr val="3182F6"/>
                </a:solidFill>
                <a:latin typeface="Apple SD Gothic Neo"/>
              </a:rPr>
              <a:t>9% → 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9729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최종 전환율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8134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+5%p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3504" y="4892040"/>
            <a:ext cx="3334512" cy="1600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3504" y="5093208"/>
            <a:ext cx="3334512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800" b="1">
                <a:solidFill>
                  <a:srgbClr val="3182F6"/>
                </a:solidFill>
                <a:latin typeface="Apple SD Gothic Neo"/>
              </a:rPr>
              <a:t>+14%p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3504" y="579729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해당 구간 전환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3504" y="618134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푸시 도입 효과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4048" y="4892040"/>
            <a:ext cx="3334512" cy="1600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4048" y="5093208"/>
            <a:ext cx="3334512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800" b="1">
                <a:solidFill>
                  <a:srgbClr val="3182F6"/>
                </a:solidFill>
                <a:latin typeface="Apple SD Gothic Neo"/>
              </a:rPr>
              <a:t>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4048" y="5797296"/>
            <a:ext cx="333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300" b="1">
                <a:solidFill>
                  <a:srgbClr val="191F28"/>
                </a:solidFill>
                <a:latin typeface="Apple SD Gothic Neo"/>
              </a:rPr>
              <a:t>결제 전환율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4048" y="6181344"/>
            <a:ext cx="333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B7684"/>
                </a:solidFill>
                <a:latin typeface="Apple SD Gothic Neo"/>
              </a:rPr>
              <a:t>→ 매출로 직결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5-4 · 해결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재방문 이유를 만든다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15600" cy="109728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문제 — "언팔한 사람 한 번 확인하고 나면 다시 들어올 이유가 있나?"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0">
                <a:solidFill>
                  <a:srgbClr val="191F28"/>
                </a:solidFill>
                <a:latin typeface="Apple SD Gothic Neo"/>
              </a:rPr>
              <a:t>단건 결제로 끝날 앱이라는 위기감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11880"/>
            <a:ext cx="3364992" cy="173736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주기적 기능성 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29992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"이번 주 팔로우 변화를</a:t>
            </a:r>
          </a:p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보실래요?"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3611880"/>
            <a:ext cx="3364992" cy="173736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3840480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타이밍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4343400"/>
            <a:ext cx="29992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유저가 여유로운</a:t>
            </a:r>
          </a:p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토요일 오전 등을 노려 발송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3611880"/>
            <a:ext cx="3364992" cy="1737360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840480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343400"/>
            <a:ext cx="29992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5만 발송 → 3만 클릭</a:t>
            </a:r>
          </a:p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CTR 약 60%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532120"/>
            <a:ext cx="97840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해결 ③ 기능 개선 — 리뷰에서 반복된 요구("과거 이력 · 기간별 변화 · 새 팔로워도 보고 싶다")를 반영해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계속 써야 할 이유를 만들었다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5-5 · 해결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문의 응대 자동화 — 안 쓰는 컴퓨터 한 대로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앱이 처음 터졌을 때 시간당 약 50건의 문의 — 유저가 계속 들어오니 문의도 계속 늘었다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3182F6"/>
                </a:solidFill>
                <a:latin typeface="Apple SD Gothic Neo"/>
              </a:rPr>
              <a:t>깨달음 — "문의도 비슷하고 내 답변도 똑같다" → 자동화할 수 있겠다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2523744" cy="14630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21579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집에 안 쓰는</a:t>
            </a:r>
          </a:p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컴퓨터를 상시 켜둔다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7016" y="3840480"/>
            <a:ext cx="2523744" cy="14630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402336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4480560"/>
            <a:ext cx="21579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로컬에 무료로 풀린</a:t>
            </a:r>
          </a:p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AI를 계속 띄워둔다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840480"/>
            <a:ext cx="2523744" cy="14630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402336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480560"/>
            <a:ext cx="21579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문의가 들어오면</a:t>
            </a:r>
          </a:p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유형을 판별해 답변 작성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3840480"/>
            <a:ext cx="2523744" cy="14630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402336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4480560"/>
            <a:ext cx="21579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나는 보내기</a:t>
            </a:r>
          </a:p>
          <a:p>
            <a:pPr algn="ctr">
              <a:lnSpc>
                <a:spcPct val="145000"/>
              </a:lnSpc>
              <a:spcAft>
                <a:spcPts val="800"/>
              </a:spcAft>
            </a:pPr>
            <a:r>
              <a:rPr sz="1400" b="0">
                <a:solidFill>
                  <a:srgbClr val="191F28"/>
                </a:solidFill>
                <a:latin typeface="Apple SD Gothic Neo"/>
              </a:rPr>
              <a:t>버튼만 누른다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1500" b="0">
                <a:solidFill>
                  <a:srgbClr val="6B7684"/>
                </a:solidFill>
                <a:latin typeface="Apple SD Gothic Neo"/>
              </a:rPr>
              <a:t>Codex·Claude 같은 유료 도구가 아니라 무료 AI로 충분했다. 이 환경 덕분에 본업을 유지하며 여러 앱을 동시에 운영할 수 있었다.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5-6 · 다앱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앱 8개를 동시에 굴리는 3가지 팁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3364992" cy="3611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3364992" cy="762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3182F6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2816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191F28"/>
                </a:solidFill>
                <a:latin typeface="Apple SD Gothic Neo"/>
              </a:rPr>
              <a:t>공통 지식은 한 곳에서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281635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앱인토스 개발 내용은 결국 다 비슷하다.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지식이 한 곳에 있으면 따로 명령하지 않아도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AI가 올바른 방향을 잡는다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377440"/>
            <a:ext cx="3364992" cy="3611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2377440"/>
            <a:ext cx="3364992" cy="76200"/>
          </a:xfrm>
          <a:prstGeom prst="rect">
            <a:avLst/>
          </a:prstGeom>
          <a:solidFill>
            <a:srgbClr val="15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651760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15C39A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108960"/>
            <a:ext cx="2816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191F28"/>
                </a:solidFill>
                <a:latin typeface="Apple SD Gothic Neo"/>
              </a:rPr>
              <a:t>PRD로 개발 범위를 잠근다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931920"/>
            <a:ext cx="281635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AI는 시키지 않은 것도 할 수 있다.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PRD로 범위를 명확히 가이드해야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의도한 것만 만들어진다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377440"/>
            <a:ext cx="3364992" cy="3611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2377440"/>
            <a:ext cx="3364992" cy="76200"/>
          </a:xfrm>
          <a:prstGeom prst="rect">
            <a:avLst/>
          </a:prstGeom>
          <a:solidFill>
            <a:srgbClr val="C0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651760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C06C00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108960"/>
            <a:ext cx="28163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191F28"/>
                </a:solidFill>
                <a:latin typeface="Apple SD Gothic Neo"/>
              </a:rPr>
              <a:t>자동화 + 지표는 필수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931920"/>
            <a:ext cx="281635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운영은 최대한 자동화한다.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대시보드가 있어야 전환율·클릭률을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>
                <a:solidFill>
                  <a:srgbClr val="6B7684"/>
                </a:solidFill>
                <a:latin typeface="Apple SD Gothic Neo"/>
              </a:rPr>
              <a:t>볼 수 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3182F6"/>
                </a:solidFill>
                <a:latin typeface="Apple SD Gothic Neo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pple SD Gothic Neo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0">
                <a:solidFill>
                  <a:srgbClr val="B0B8C1"/>
                </a:solidFill>
                <a:latin typeface="Apple SD Gothic Neo"/>
              </a:rPr>
              <a:t>이 발표를 관통하는 메시지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결국 하나의 이야기였다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1051560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76200" cy="22860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969264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200" b="1">
                <a:solidFill>
                  <a:srgbClr val="191F28"/>
                </a:solidFill>
                <a:latin typeface="Apple SD Gothic Neo"/>
              </a:rPr>
              <a:t>"엄청나게 갖춰서 출시하려 할 필요 없다.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200" b="1">
                <a:solidFill>
                  <a:srgbClr val="191F28"/>
                </a:solidFill>
                <a:latin typeface="Apple SD Gothic Neo"/>
              </a:rPr>
              <a:t>문제 정의를 빠르게, 개발도 빠르게, 마케팅도 해보고,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200" b="1">
                <a:solidFill>
                  <a:srgbClr val="191F28"/>
                </a:solidFill>
                <a:latin typeface="Apple SD Gothic Neo"/>
              </a:rPr>
              <a:t>반응이 좋으면 계속하고 아니면 다른 걸로 다시 도전하면 된다."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2519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일단 먼저 해보는 것, 그리고 이 과정을 빠르게 전환하는 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"일단 해보는 게 중요하다. 그리고 이 과정을 빠르게 전환해야 한다."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요약 원칙 5가지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5486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3182F6"/>
                </a:solidFill>
                <a:latin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8658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작게 시작한다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4231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화면 1~2개, DAU 10명 목표부터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0896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5486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3182F6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0954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빈칸을 찾는다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2461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오리지널이 아니어도 된다. 생태계에 없으면 그게 기회다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3192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5486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3182F6"/>
                </a:solidFill>
                <a:latin typeface="Apple SD Gothic Ne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03250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제약을 설계로 바꾼다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0690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서버를 못 만들면 서버 없는 앱을 만든다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548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5486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3182F6"/>
                </a:solidFill>
                <a:latin typeface="Apple SD Gothic Ne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85546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출시는 시작이다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8920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200번 고치고, 로그를 심고, 지표로 페인 포인트를 찾는다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57784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5486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Aft>
                <a:spcPts val="800"/>
              </a:spcAft>
            </a:pPr>
            <a:r>
              <a:rPr sz="2200" b="1">
                <a:solidFill>
                  <a:srgbClr val="3182F6"/>
                </a:solidFill>
                <a:latin typeface="Apple SD Gothic Ne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67842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플랫폼이 주는 무료 도구를 끝까지 쓴다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7150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6B7684"/>
                </a:solidFill>
                <a:latin typeface="Apple SD Gothic Neo"/>
              </a:rPr>
              <a:t>스마트 발송 · 프로모션 · 공유 리워드 · 리뷰 요청 · OG 이미지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바로 실행할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3364992" cy="3749039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3364992" cy="762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3182F6"/>
                </a:solidFill>
                <a:latin typeface="Apple SD Gothic Neo"/>
              </a:rPr>
              <a:t>출시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358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182F6"/>
                </a:solidFill>
                <a:latin typeface="Apple SD Gothic Neo"/>
              </a:rPr>
              <a:t>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017520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앱인토스 MCP 설치 (최초 1회)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4198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182F6"/>
                </a:solidFill>
                <a:latin typeface="Apple SD Gothic Neo"/>
              </a:rPr>
              <a:t>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401568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platform-docs 폴더에 지식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039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182F6"/>
                </a:solidFill>
                <a:latin typeface="Apple SD Gothic Neo"/>
              </a:rPr>
              <a:t>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785616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"PRD 스킬" 템플릿 → 음성 5분 → PRD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1879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182F6"/>
                </a:solidFill>
                <a:latin typeface="Apple SD Gothic Neo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69664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TDS .fig → Claude 디자인에 등록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572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182F6"/>
                </a:solidFill>
                <a:latin typeface="Apple SD Gothic Neo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553712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AI에 "로그를 반드시 심어라" 명시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956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3182F6"/>
                </a:solidFill>
                <a:latin typeface="Apple SD Gothic Neo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937760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QA는 실제 단말로 직접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8264" y="2286000"/>
            <a:ext cx="3364992" cy="3749039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98264" y="2286000"/>
            <a:ext cx="3364992" cy="76200"/>
          </a:xfrm>
          <a:prstGeom prst="rect">
            <a:avLst/>
          </a:prstGeom>
          <a:solidFill>
            <a:srgbClr val="15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4296" y="2542032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15C39A"/>
                </a:solidFill>
                <a:latin typeface="Apple SD Gothic Neo"/>
              </a:rPr>
              <a:t>출시 직후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30358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5C39A"/>
                </a:solidFill>
                <a:latin typeface="Apple SD Gothic Neo"/>
              </a:rPr>
              <a:t>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3017520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스마트 발송(광고성)으로 신규 유입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34198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5C39A"/>
                </a:solidFill>
                <a:latin typeface="Apple SD Gothic Neo"/>
              </a:rPr>
              <a:t>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3401568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공유 링크 OG 이미지 커스텀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4296" y="38039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5C39A"/>
                </a:solidFill>
                <a:latin typeface="Apple SD Gothic Neo"/>
              </a:rPr>
              <a:t>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8616" y="3785616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requestReview를 만족 순간에 호출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41879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5C39A"/>
                </a:solidFill>
                <a:latin typeface="Apple SD Gothic Neo"/>
              </a:rPr>
              <a:t>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4169664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지인 배포 → 초기 피드백 수집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2286000"/>
            <a:ext cx="3364992" cy="3749039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73568" y="2286000"/>
            <a:ext cx="3364992" cy="76200"/>
          </a:xfrm>
          <a:prstGeom prst="rect">
            <a:avLst/>
          </a:prstGeom>
          <a:solidFill>
            <a:srgbClr val="C0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542032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800" b="1">
                <a:solidFill>
                  <a:srgbClr val="C06C00"/>
                </a:solidFill>
                <a:latin typeface="Apple SD Gothic Neo"/>
              </a:rPr>
              <a:t>성장 단계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0358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C06C00"/>
                </a:solidFill>
                <a:latin typeface="Apple SD Gothic Neo"/>
              </a:rPr>
              <a:t>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017520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대시보드에서 최대 이탈 구간 찾기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4198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C06C00"/>
                </a:solidFill>
                <a:latin typeface="Apple SD Gothic Neo"/>
              </a:rPr>
              <a:t>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401568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그 구간에 기능성 푸시 투입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8039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C06C00"/>
                </a:solidFill>
                <a:latin typeface="Apple SD Gothic Neo"/>
              </a:rPr>
              <a:t>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785616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재방문 알림 설계(요일·시간대까지)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1879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C06C00"/>
                </a:solidFill>
                <a:latin typeface="Apple SD Gothic Neo"/>
              </a:rPr>
              <a:t>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169664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프로모션 + 공유 리워드 도입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572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C06C00"/>
                </a:solidFill>
                <a:latin typeface="Apple SD Gothic Neo"/>
              </a:rPr>
              <a:t>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553712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연령 분포 → 외부 커뮤니티 공략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956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C06C00"/>
                </a:solidFill>
                <a:latin typeface="Apple SD Gothic Neo"/>
              </a:rPr>
              <a:t>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937760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광고 A/B 실험 (전면형 ↔ 리워드)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3400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C06C00"/>
                </a:solidFill>
                <a:latin typeface="Apple SD Gothic Neo"/>
              </a:rPr>
              <a:t>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5321808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결제 선택지 다양화 + 부분 공개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724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C06C00"/>
                </a:solidFill>
                <a:latin typeface="Apple SD Gothic Neo"/>
              </a:rPr>
              <a:t>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705856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91F28"/>
                </a:solidFill>
                <a:latin typeface="Apple SD Gothic Neo"/>
              </a:rPr>
              <a:t>문의가 늘면 응대 자동화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3182F6"/>
                </a:solidFill>
                <a:latin typeface="Apple SD Gothic Ne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400" b="1">
                <a:solidFill>
                  <a:srgbClr val="191F28"/>
                </a:solidFill>
                <a:latin typeface="Apple SD Gothic Neo"/>
              </a:rPr>
              <a:t>웨비나 운영 안내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640080" cy="508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68880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774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다시보기 — 앱인토스 콘솔 가입 → 워크스페이스 → 상단 배너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68833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"앱인토스 웨비나 영상과 자료를 확인해 보세요" · 발표 자료도 함께 제공 (라이브 Q&amp;A는 미포함)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82112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0906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6월 웨비나 추천 — 권순우 PO와 함께 3시간 동안 실제로 미니앱을 만드는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4015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마지막에 AI가 검수 반려당하는 장면으로 마무리된다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95344"/>
            <a:ext cx="118872" cy="11887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80390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1">
                <a:solidFill>
                  <a:srgbClr val="191F28"/>
                </a:solidFill>
                <a:latin typeface="Apple SD Gothic Neo"/>
              </a:rPr>
              <a:t>설문 참여자 5명 추첨 굿즈 증정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114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6B7684"/>
                </a:solidFill>
                <a:latin typeface="Apple SD Gothic Neo"/>
              </a:rPr>
              <a:t>티셔츠 · 스티커 · 키캡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63440"/>
            <a:ext cx="10515600" cy="10972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9204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0">
                <a:solidFill>
                  <a:srgbClr val="6B7684"/>
                </a:solidFill>
                <a:latin typeface="Apple SD Gothic Neo"/>
              </a:rPr>
              <a:t>원본 영상 · https://youtu.be/3-fFCssCYmA   |   앱인토스 공식 채널 · 2026.08.21   |   러닝타임 1:14:40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B7684"/>
                </a:solidFill>
                <a:latin typeface="Apple SD Gothic Neo"/>
              </a:rP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"일단 해보는 게 중요하다.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그리고 빠르게 전환해야 한다."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526280"/>
            <a:ext cx="1005840" cy="6350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B0B8C1"/>
                </a:solidFill>
                <a:latin typeface="Apple SD Gothic Neo"/>
              </a:rPr>
              <a:t>박효준 · 앱인토스 웨비나 2026.08.21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